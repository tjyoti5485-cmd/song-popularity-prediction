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songs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0–10</c:v>
                  </c:pt>
                  <c:pt idx="1">
                    <c:v>11–20</c:v>
                  </c:pt>
                  <c:pt idx="2">
                    <c:v>21–30</c:v>
                  </c:pt>
                  <c:pt idx="3">
                    <c:v>31–40</c:v>
                  </c:pt>
                  <c:pt idx="4">
                    <c:v>41–50</c:v>
                  </c:pt>
                  <c:pt idx="5">
                    <c:v>51–60</c:v>
                  </c:pt>
                  <c:pt idx="6">
                    <c:v>61–70</c:v>
                  </c:pt>
                  <c:pt idx="7">
                    <c:v>71–80</c:v>
                  </c:pt>
                  <c:pt idx="8">
                    <c:v>81–100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8.4</c:v>
                </c:pt>
                <c:pt idx="1">
                  <c:v>4.1</c:v>
                </c:pt>
                <c:pt idx="2">
                  <c:v>6.3</c:v>
                </c:pt>
                <c:pt idx="3">
                  <c:v>9.8</c:v>
                </c:pt>
                <c:pt idx="4">
                  <c:v>14.2</c:v>
                </c:pt>
                <c:pt idx="5">
                  <c:v>20.6</c:v>
                </c:pt>
                <c:pt idx="6">
                  <c:v>19.1</c:v>
                </c:pt>
                <c:pt idx="7">
                  <c:v>12.7</c:v>
                </c:pt>
                <c:pt idx="8">
                  <c:v>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4D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1"/>
        <c:axPos val="l"/>
        <c:majorGridlines>
          <c:spPr>
            <a:ln w="12700" cap="flat">
              <a:solidFill>
                <a:srgbClr val="2C2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87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738"/>
        </a:solidFill>
        <a:ln w="12700" cap="flat">
          <a:solidFill>
            <a:srgbClr val="1E1738"/>
          </a:solidFill>
        </a:ln>
        <a:effectLst/>
      </c:spPr>
    </c:plotArea>
    <c:plotVisOnly val="1"/>
    <c:dispBlanksAs val="span"/>
  </c:chart>
  <c:spPr>
    <a:solidFill>
      <a:srgbClr val="1E17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popularity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Instrumentalness</c:v>
                  </c:pt>
                  <c:pt idx="1">
                    <c:v>Duration</c:v>
                  </c:pt>
                  <c:pt idx="2">
                    <c:v>Acousticness</c:v>
                  </c:pt>
                  <c:pt idx="3">
                    <c:v>Energy</c:v>
                  </c:pt>
                  <c:pt idx="4">
                    <c:v>Liveness</c:v>
                  </c:pt>
                  <c:pt idx="5">
                    <c:v>Speechiness</c:v>
                  </c:pt>
                  <c:pt idx="6">
                    <c:v>Danceability</c:v>
                  </c:pt>
                  <c:pt idx="7">
                    <c:v>Loudness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-0.13</c:v>
                </c:pt>
                <c:pt idx="1">
                  <c:v>-0.07</c:v>
                </c:pt>
                <c:pt idx="2">
                  <c:v>-0.05</c:v>
                </c:pt>
                <c:pt idx="3">
                  <c:v>-0.04</c:v>
                </c:pt>
                <c:pt idx="4">
                  <c:v>-0.03</c:v>
                </c:pt>
                <c:pt idx="5">
                  <c:v>0.02</c:v>
                </c:pt>
                <c:pt idx="6">
                  <c:v>0.05</c:v>
                </c:pt>
                <c:pt idx="7">
                  <c:v>0.08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4D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5"/>
          <c:min val="-0.2"/>
        </c:scaling>
        <c:delete val="1"/>
        <c:axPos val="b"/>
        <c:majorGridlines>
          <c:spPr>
            <a:ln w="12700" cap="flat">
              <a:solidFill>
                <a:srgbClr val="2C2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87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738"/>
        </a:solidFill>
        <a:ln w="12700" cap="flat">
          <a:solidFill>
            <a:srgbClr val="1E1738"/>
          </a:solidFill>
        </a:ln>
        <a:effectLst/>
      </c:spPr>
    </c:plotArea>
    <c:plotVisOnly val="1"/>
    <c:dispBlanksAs val="span"/>
  </c:chart>
  <c:spPr>
    <a:solidFill>
      <a:srgbClr val="1E17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XGBoost</c:v>
                  </c:pt>
                  <c:pt idx="4">
                    <c:v>LightGBM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</c:v>
                </c:pt>
                <c:pt idx="1">
                  <c:v>0.65</c:v>
                </c:pt>
                <c:pt idx="2">
                  <c:v>0.74</c:v>
                </c:pt>
                <c:pt idx="3">
                  <c:v>0.76</c:v>
                </c:pt>
                <c:pt idx="4">
                  <c:v>0.76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XGBoost</c:v>
                  </c:pt>
                  <c:pt idx="4">
                    <c:v>LightGBM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0.72</c:v>
                </c:pt>
                <c:pt idx="1">
                  <c:v>0.66</c:v>
                </c:pt>
                <c:pt idx="2">
                  <c:v>0.81</c:v>
                </c:pt>
                <c:pt idx="3">
                  <c:v>0.83</c:v>
                </c:pt>
                <c:pt idx="4">
                  <c:v>0.84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4D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majorGridlines>
          <c:spPr>
            <a:ln w="12700" cap="flat">
              <a:solidFill>
                <a:srgbClr val="2C2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87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738"/>
        </a:solidFill>
        <a:ln w="12700" cap="flat">
          <a:solidFill>
            <a:srgbClr val="1E1738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C9C4D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17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Loudness</c:v>
                  </c:pt>
                  <c:pt idx="1">
                    <c:v>Instrumentalness</c:v>
                  </c:pt>
                  <c:pt idx="2">
                    <c:v>Acousticness</c:v>
                  </c:pt>
                  <c:pt idx="3">
                    <c:v>Duration</c:v>
                  </c:pt>
                  <c:pt idx="4">
                    <c:v>Danceability</c:v>
                  </c:pt>
                  <c:pt idx="5">
                    <c:v>Energy</c:v>
                  </c:pt>
                  <c:pt idx="6">
                    <c:v>Speechiness</c:v>
                  </c:pt>
                  <c:pt idx="7">
                    <c:v>Valence</c:v>
                  </c:pt>
                  <c:pt idx="8">
                    <c:v>Tempo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0.168</c:v>
                </c:pt>
                <c:pt idx="1">
                  <c:v>0.152</c:v>
                </c:pt>
                <c:pt idx="2">
                  <c:v>0.121</c:v>
                </c:pt>
                <c:pt idx="3">
                  <c:v>0.113</c:v>
                </c:pt>
                <c:pt idx="4">
                  <c:v>0.104</c:v>
                </c:pt>
                <c:pt idx="5">
                  <c:v>0.096</c:v>
                </c:pt>
                <c:pt idx="6">
                  <c:v>0.087</c:v>
                </c:pt>
                <c:pt idx="7">
                  <c:v>0.081</c:v>
                </c:pt>
                <c:pt idx="8">
                  <c:v>0.078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C4D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1"/>
        </c:scaling>
        <c:delete val="1"/>
        <c:axPos val="b"/>
        <c:majorGridlines>
          <c:spPr>
            <a:ln w="12700" cap="flat">
              <a:solidFill>
                <a:srgbClr val="2C2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87B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1738"/>
        </a:solidFill>
        <a:ln w="12700" cap="flat">
          <a:solidFill>
            <a:srgbClr val="1E1738"/>
          </a:solidFill>
        </a:ln>
        <a:effectLst/>
      </c:spPr>
    </c:plotArea>
    <c:plotVisOnly val="1"/>
    <c:dispBlanksAs val="span"/>
  </c:chart>
  <c:spPr>
    <a:solidFill>
      <a:srgbClr val="1E17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hook: every day roughly 100,000 new tracks are uploaded to streaming platforms, but only a tiny fraction ever break through. This project asks whether the measurable audio characteristics of a song - its energy, loudness, danceability and so on - carry enough signal to predict popularity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about twenty seconds. Signpost the three acts: understand the data, model it, interpret what the model learned.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stakes in money and attention. The business case is simple: even a small edge in predicting popularity changes how a limited marketing budget is 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explanation matters as much as accuracy here - a black box that predicts hits without saying why is much less useful to an artist or a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key limitation early and honestly: this dataset has no artist or genre column, so the model can only judge a song by its sound, not by who released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row. Point out that most features are normalised 0 to 1, while loudness, tempo and duration are on completely different scales - which is exactly why scaling matters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examiners probe. Be ready to justify the median split: it keeps the classes balanced and turns an unreliable regression target into a question a label would actually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skew matters: a model that only predicts the average would look deceptively fine on error metrics while being useless for spotting outliers.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headline of the whole project: linear relationships are weak. That is not a failure, it is the motivation for ensemble models that capture interactions between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ladder: start with a linear baseline so there is something to beat, then add complexity only where it earns its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the metric that matters for the decision. Accuracy alone hides how the model behaves on the minority of genuine breakout hits, which is why ROC-AUC and F1 are shown alongside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caveat out loud: feature importance shows association, not causation. Making a track louder will not by itself make it popular.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turns a class assignment into a project with a point. Pick one application and describe it concretely.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your own limitations before the audience does is the single easiest way to gain credibility in a viva or a judging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version of the finding rather than an inflated claim - it is more memorable and far easier to defend in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6583680" cy="6583680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38404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969264"/>
            <a:ext cx="100584" cy="1463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" y="804672"/>
            <a:ext cx="100584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914400"/>
            <a:ext cx="100584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" y="694944"/>
            <a:ext cx="100584" cy="42062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859536"/>
            <a:ext cx="100584" cy="25603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440180" y="65836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609344" y="932688"/>
            <a:ext cx="100584" cy="1828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DATA SCIENCE PROJECT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719072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Popularity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611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track's audio DNA tell us whether it will be a hit?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434340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18,835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5029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analysed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10128" y="434340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11296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3511296" y="5029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53328" y="434340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54496" y="4480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5029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943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|  Your Name  •  Roll No.  •  Department / Institution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2362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Song Popularity Dataset (Kaggle · yasserh)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64040" y="3611880"/>
            <a:ext cx="182880" cy="45720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774936" y="3017520"/>
            <a:ext cx="182880" cy="105156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085832" y="3383280"/>
            <a:ext cx="182880" cy="68580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396728" y="2560320"/>
            <a:ext cx="182880" cy="150876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707624" y="3154680"/>
            <a:ext cx="182880" cy="91440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018520" y="2148840"/>
            <a:ext cx="182880" cy="192024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329416" y="2834640"/>
            <a:ext cx="182880" cy="123444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640312" y="3337560"/>
            <a:ext cx="182880" cy="731520"/>
          </a:xfrm>
          <a:prstGeom prst="roundRect">
            <a:avLst>
              <a:gd name="adj" fmla="val 50000"/>
            </a:avLst>
          </a:prstGeom>
          <a:solidFill>
            <a:srgbClr val="8B5CF6">
              <a:alpha val="8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3493008" cy="1938528"/>
          </a:xfrm>
          <a:prstGeom prst="roundRect">
            <a:avLst>
              <a:gd name="adj" fmla="val 4717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377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hit prediction matters and what we set out to build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34256" y="1600200"/>
            <a:ext cx="3493008" cy="1938528"/>
          </a:xfrm>
          <a:prstGeom prst="roundRect">
            <a:avLst>
              <a:gd name="adj" fmla="val 4717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0288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2377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18,835 Spotify tracks described by 14 audio attributes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1600200"/>
            <a:ext cx="3493008" cy="1938528"/>
          </a:xfrm>
          <a:prstGeom prst="roundRect">
            <a:avLst>
              <a:gd name="adj" fmla="val 4717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7616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5761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2377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57616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scaling and engineering features for modelling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813048"/>
            <a:ext cx="3493008" cy="1938528"/>
          </a:xfrm>
          <a:prstGeom prst="roundRect">
            <a:avLst>
              <a:gd name="adj" fmla="val 4717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069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5902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956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popular music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34256" y="3813048"/>
            <a:ext cx="3493008" cy="1938528"/>
          </a:xfrm>
          <a:prstGeom prst="roundRect">
            <a:avLst>
              <a:gd name="adj" fmla="val 4717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0288" y="4069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9028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45902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Results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590288" y="4956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benchmarked head to head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01584" y="3813048"/>
            <a:ext cx="3493008" cy="1938528"/>
          </a:xfrm>
          <a:prstGeom prst="roundRect">
            <a:avLst>
              <a:gd name="adj" fmla="val 4717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57616" y="4069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576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357616" y="45902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Next Steps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4956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Takeaways, limitations and future directions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crowded market, a costly guess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00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labels, playlist curators and independent artists all face the same question: which tracks deserve the marketing budget? Today that call is made largely on instinct and A&amp;R experience.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8803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are committed before any listener feedback exists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must surface a few tracks out of millions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exist before a single stream is played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5720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271E4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7548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song's measurable audio characteristics predict how popular it will become?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56832" y="18013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18562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tracks uploaded to streaming services every 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081528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56832" y="328269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$29.6B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337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recorded music revenue in 2024 (IFPI)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562856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56832" y="476402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752M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8188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streaming subscribers worldwide (IFPI, 2024)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8562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1847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81051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18,835 tracks and quantify how audio attributes relate to popularity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724912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150F2B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026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98094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de-duplicate and scale the data into a reliable modelling table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895344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1970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187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15137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benchmark five algorithms on a hold-out test set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5065776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150F2B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67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81328" y="53583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3566160" y="53218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features that drive predictions and translate them into advice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63093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criterion: a model that beats the majority-class baseline by a clear margin and offers interpretable feature importance.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Popularity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1673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18,835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2194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(songs)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5848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57016" y="1673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2194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4768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5936" y="1673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194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scale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33688" y="155448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34856" y="1673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34856" y="2194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flat file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2880360"/>
            <a:ext cx="5486400" cy="3017520"/>
          </a:xfrm>
          <a:prstGeom prst="roundRect">
            <a:avLst>
              <a:gd name="adj" fmla="val 3030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source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493008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yasserh / song-popularity-dataset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attributes originate from the Spotify Web API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song_popularity, an integer score from 0 to 100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track; song_name is the only text column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artist, genre or release-date information is included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880360"/>
            <a:ext cx="5230368" cy="3017520"/>
          </a:xfrm>
          <a:prstGeom prst="roundRect">
            <a:avLst>
              <a:gd name="adj" fmla="val 3030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snapshot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547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track entries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35478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096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40965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material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6451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46451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uneven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51937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distribution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51937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DICTIONARY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predictors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36192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755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15910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song_duration_ms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15910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length in milliseconds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203704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4231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2585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acousticness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22585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the track is acoustic (0–1)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2871216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090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danceability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suited the track is to dancing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538728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7581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3593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35935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intensity and activity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206240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42569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" y="42611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instrumentalness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42611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the track has no vocals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873752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5093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05840" y="4928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108960" y="49286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key, encoded 0–11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541264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57607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5840" y="5596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liveness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108960" y="5596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a live audience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0488" y="1536192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1755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629400" y="159105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loudness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732520" y="15910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loudness in decibels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0488" y="2203704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3368" y="24231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629400" y="22585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audio_mode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732520" y="225856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(1) or minor (0) modality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90488" y="2871216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73368" y="3090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62940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speechiness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732520" y="2926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spoken words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90488" y="3538728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73368" y="37581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29400" y="359359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732520" y="35935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speed in beats per minute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190488" y="4206240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73368" y="442569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629400" y="42611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time_signature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8732520" y="42611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beats per bar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190488" y="4873752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73368" y="5093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629400" y="492861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audio_valence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732520" y="49286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positivity or mood (0–1)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190488" y="5541264"/>
            <a:ext cx="5440680" cy="576072"/>
          </a:xfrm>
          <a:prstGeom prst="roundRect">
            <a:avLst>
              <a:gd name="adj" fmla="val 15873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73368" y="57607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629400" y="5596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song_popularity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8732520" y="5596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· popularity score 0–100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72768"/>
            <a:ext cx="2084832" cy="2514600"/>
          </a:xfrm>
          <a:prstGeom prst="roundRect">
            <a:avLst>
              <a:gd name="adj" fmla="val 4386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 tracks, handle nulls, remove the song_name text column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9748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8F87B0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1572768"/>
            <a:ext cx="2084832" cy="2514600"/>
          </a:xfrm>
          <a:prstGeom prst="roundRect">
            <a:avLst>
              <a:gd name="adj" fmla="val 4386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63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26974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duration to minutes; treat key, mode and time signature as categorical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65192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8F87B0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2352" y="1572768"/>
            <a:ext cx="2084832" cy="2514600"/>
          </a:xfrm>
          <a:prstGeom prst="roundRect">
            <a:avLst>
              <a:gd name="adj" fmla="val 4386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30952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3095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30952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330952" y="26974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continuous features so loudness and tempo cannot dominate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32904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8F87B0"/>
          </a:solidFill>
          <a:ln/>
        </p:spPr>
      </p:sp>
      <p:sp>
        <p:nvSpPr>
          <p:cNvPr id="28" name="Shape 26"/>
          <p:cNvSpPr/>
          <p:nvPr/>
        </p:nvSpPr>
        <p:spPr>
          <a:xfrm>
            <a:off x="7370064" y="1572768"/>
            <a:ext cx="2084832" cy="2514600"/>
          </a:xfrm>
          <a:prstGeom prst="roundRect">
            <a:avLst>
              <a:gd name="adj" fmla="val 4386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98664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9866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598664" y="26974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mood and intensity ratios; bin popularity into a hit / non-hit label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00616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8F87B0"/>
          </a:solidFill>
          <a:ln/>
        </p:spPr>
      </p:sp>
      <p:sp>
        <p:nvSpPr>
          <p:cNvPr id="34" name="Shape 32"/>
          <p:cNvSpPr/>
          <p:nvPr/>
        </p:nvSpPr>
        <p:spPr>
          <a:xfrm>
            <a:off x="9637776" y="1572768"/>
            <a:ext cx="2084832" cy="2514600"/>
          </a:xfrm>
          <a:prstGeom prst="roundRect">
            <a:avLst>
              <a:gd name="adj" fmla="val 4386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66376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86637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866376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866376" y="26974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train–test split with a fixed random seed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6928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1248" y="4526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" y="491947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 — duration in a human-readable scale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mood_index — valence combined with energy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is_hit — 1 if popularity is above the median, else 0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00800" y="4343400"/>
            <a:ext cx="5230368" cy="1600200"/>
          </a:xfrm>
          <a:prstGeom prst="roundRect">
            <a:avLst>
              <a:gd name="adj" fmla="val 5714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7512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binarise the target?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4901184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0–100 score is noisy and heavily skewed, so exact-value regression is unstable. Framing the task as "will this track land in the upper half of popularity?" produces a balanced, decision-useful classification problem — while regression is retained as a secondary benchmark.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 · 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popularity is distributed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7040880" cy="4343400"/>
          </a:xfrm>
          <a:prstGeom prst="roundRect">
            <a:avLst>
              <a:gd name="adj" fmla="val 210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731520" y="1755648"/>
          <a:ext cx="6711696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955280" y="155448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1737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8211312" y="257860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popularity score — the threshold used to separate hits from the rest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55280" y="3840480"/>
            <a:ext cx="3675888" cy="2057400"/>
          </a:xfrm>
          <a:prstGeom prst="roundRect">
            <a:avLst>
              <a:gd name="adj" fmla="val 4444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11312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84464" y="43891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bulk of tracks cluster between 50 and 70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left tail of near-zero scores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breakout hits above 80 are rare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 · 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moves the needle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7040880" cy="4343400"/>
          </a:xfrm>
          <a:prstGeom prst="roundRect">
            <a:avLst>
              <a:gd name="adj" fmla="val 210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731520" y="1755648"/>
          <a:ext cx="6711696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955280" y="1554480"/>
            <a:ext cx="3675888" cy="4343400"/>
          </a:xfrm>
          <a:prstGeom prst="roundRect">
            <a:avLst>
              <a:gd name="adj" fmla="val 2488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194560"/>
            <a:ext cx="31272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is a silver bullet — every correlation is weak in isolation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 tracks are consistently the least popular: vocals sell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Louder, more danceable, shorter tracks skew slightly more popular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signals are exactly why non-linear tree models are worth trying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models were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5029200" cy="4343400"/>
          </a:xfrm>
          <a:prstGeom prst="roundRect">
            <a:avLst>
              <a:gd name="adj" fmla="val 210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755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402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2402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(hit / non-hit)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8437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8437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· 20% test, stratified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4472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344728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on train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0507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40507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on key hyperparameters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6542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46542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2578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52578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XGBoost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1554480"/>
            <a:ext cx="5687568" cy="777240"/>
          </a:xfrm>
          <a:prstGeom prst="roundRect">
            <a:avLst>
              <a:gd name="adj" fmla="val 1176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828800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0528" y="1682496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1682496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linear baseline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0" y="2441448"/>
            <a:ext cx="5687568" cy="777240"/>
          </a:xfrm>
          <a:prstGeom prst="roundRect">
            <a:avLst>
              <a:gd name="adj" fmla="val 1176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2715768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10528" y="2569464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2569464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non-linear rules, easy to visualise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3328416"/>
            <a:ext cx="5687568" cy="777240"/>
          </a:xfrm>
          <a:prstGeom prst="roundRect">
            <a:avLst>
              <a:gd name="adj" fmla="val 1176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99632" y="3602736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10528" y="3456432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8869680" y="3456432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trees, robust to noise and outliers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0" y="4215384"/>
            <a:ext cx="5687568" cy="777240"/>
          </a:xfrm>
          <a:prstGeom prst="roundRect">
            <a:avLst>
              <a:gd name="adj" fmla="val 1176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9632" y="4489704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10528" y="4343400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4343400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fine-grained interactions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43600" y="5102352"/>
            <a:ext cx="5687568" cy="777240"/>
          </a:xfrm>
          <a:prstGeom prst="roundRect">
            <a:avLst>
              <a:gd name="adj" fmla="val 1176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99632" y="5376672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10528" y="5230368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8869680" y="5230368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leaf-wise boosting on the same features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7589520" cy="4343400"/>
          </a:xfrm>
          <a:prstGeom prst="roundRect">
            <a:avLst>
              <a:gd name="adj" fmla="val 210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731520" y="1783080"/>
          <a:ext cx="7260336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8503920" y="1554480"/>
            <a:ext cx="3127248" cy="2103120"/>
          </a:xfrm>
          <a:prstGeom prst="roundRect">
            <a:avLst>
              <a:gd name="adj" fmla="val 4348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59952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759952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8759952" y="254203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ROC-AUC · 0.76 accuracy · 0.75 F1 on the held-out test set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03920" y="3886200"/>
            <a:ext cx="3127248" cy="2011680"/>
          </a:xfrm>
          <a:prstGeom prst="roundRect">
            <a:avLst>
              <a:gd name="adj" fmla="val 454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59952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833104" y="44348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beat the linear baseline by ~8 points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tree overfits and underperforms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adds little over bagging here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199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shown are from a sample run — replace with the metrics produced by your own notebook.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drove the prediction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7040880" cy="4343400"/>
          </a:xfrm>
          <a:prstGeom prst="roundRect">
            <a:avLst>
              <a:gd name="adj" fmla="val 210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731520" y="1755648"/>
          <a:ext cx="6711696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7955280" y="1554480"/>
            <a:ext cx="3675888" cy="4343400"/>
          </a:xfrm>
          <a:prstGeom prst="roundRect">
            <a:avLst>
              <a:gd name="adj" fmla="val 2488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1312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in the numbers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194560"/>
            <a:ext cx="3127248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 leads — the loudness war in mastering is visible in the data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 is the strongest negative signal: vocal tracks win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choices (loudness, acousticness, duration) outrank musical ones (key, tempo, mode)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is spread thinly — popularity is genuinely multi-causal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where they apply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55448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taught us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224028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18541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alone carry real but limited signal — enough to rank, not enough to guarantee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1363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08152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Vocal, loud, danceable and moderately short tracks are the popular profile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0325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39776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ensembles capture interactions that correlation analysis misses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92861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48737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artist, label, playlist placement, marketing — is the missing half of the story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1554480"/>
            <a:ext cx="5431536" cy="4343400"/>
          </a:xfrm>
          <a:prstGeom prst="roundRect">
            <a:avLst>
              <a:gd name="adj" fmla="val 2105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be used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73952" y="2313432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84848" y="2221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A&amp;R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25328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demo submissions and prioritise which tracks get budget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73952" y="3209544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4848" y="31181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3429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ranking for new releases with no listening history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73952" y="4105656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84848" y="40142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artists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84848" y="43251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feedback on how a mix compares to popular tracks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73952" y="5001768"/>
            <a:ext cx="146304" cy="23774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84848" y="4910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curation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784848" y="522122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candidates that match a playlist's sonic profile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91088" y="6382512"/>
            <a:ext cx="77724" cy="9144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19104" y="6254496"/>
            <a:ext cx="77724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6327648"/>
            <a:ext cx="77724" cy="146304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75136" y="6199632"/>
            <a:ext cx="77724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03152" y="6355080"/>
            <a:ext cx="77724" cy="118872"/>
          </a:xfrm>
          <a:prstGeom prst="roundRect">
            <a:avLst>
              <a:gd name="adj" fmla="val 50000"/>
            </a:avLst>
          </a:prstGeom>
          <a:solidFill>
            <a:srgbClr val="8B5CF6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75720" y="61447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04825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variables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reputation, label backing and marketing spend are absent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999232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1272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is a moving target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41985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Spotify's score reflects recent plays, so it drifts over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78224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988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release dates, so trends across eras cannot be modelled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157216"/>
            <a:ext cx="5440680" cy="932688"/>
          </a:xfrm>
          <a:prstGeom prst="roundRect">
            <a:avLst>
              <a:gd name="adj" fmla="val 9804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2852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causation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577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describes popular songs; it cannot manufacture one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27064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1920240"/>
            <a:ext cx="5431536" cy="932688"/>
          </a:xfrm>
          <a:prstGeom prst="roundRect">
            <a:avLst>
              <a:gd name="adj" fmla="val 9804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204825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the dataset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34086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artist, genre and release-year data from the Spotify API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9632" y="2999232"/>
            <a:ext cx="5431536" cy="932688"/>
          </a:xfrm>
          <a:prstGeom prst="roundRect">
            <a:avLst>
              <a:gd name="adj" fmla="val 9804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31272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audio itself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341985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Spectrogram-based deep learning instead of summary features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9632" y="4078224"/>
            <a:ext cx="5431536" cy="932688"/>
          </a:xfrm>
          <a:prstGeom prst="roundRect">
            <a:avLst>
              <a:gd name="adj" fmla="val 9804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3952" y="42062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explanations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73952" y="44988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Per-track reasoning a non-technical user can act 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9632" y="5157216"/>
            <a:ext cx="5431536" cy="932688"/>
          </a:xfrm>
          <a:prstGeom prst="roundRect">
            <a:avLst>
              <a:gd name="adj" fmla="val 9804"/>
            </a:avLst>
          </a:prstGeom>
          <a:solidFill>
            <a:srgbClr val="271E4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73952" y="52852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demo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55778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that scores any track ID on request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828800"/>
            <a:ext cx="6766560" cy="6766560"/>
          </a:xfrm>
          <a:prstGeom prst="roundRect">
            <a:avLst>
              <a:gd name="adj" fmla="val 50000"/>
            </a:avLst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291840"/>
            <a:ext cx="5120640" cy="5120640"/>
          </a:xfrm>
          <a:prstGeom prst="roundRect">
            <a:avLst>
              <a:gd name="adj" fmla="val 50000"/>
            </a:avLst>
          </a:prstGeom>
          <a:solidFill>
            <a:srgbClr val="EC4899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51560"/>
            <a:ext cx="100584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5" name="Shape 3"/>
          <p:cNvSpPr/>
          <p:nvPr/>
        </p:nvSpPr>
        <p:spPr>
          <a:xfrm>
            <a:off x="763524" y="850392"/>
            <a:ext cx="100584" cy="3657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978408"/>
            <a:ext cx="100584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" y="740664"/>
            <a:ext cx="100584" cy="47548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941832"/>
            <a:ext cx="100584" cy="2743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440180" y="685800"/>
            <a:ext cx="100584" cy="53035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609344" y="996696"/>
            <a:ext cx="100584" cy="21945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explains part of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— not all of it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291840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18,835 tracks, gradient-boosted ensembles separate popular songs from the rest with 0.84 ROC-AUC using audio features alone. Loudness and the presence of vocals matter most — but the remaining error is a reminder that a hit is made by people as much as by sound.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754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873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303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81528" y="4754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64408" y="4873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264408" y="5303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96128" y="4754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1E1738"/>
          </a:solidFill>
          <a:ln w="12700">
            <a:solidFill>
              <a:srgbClr val="2C23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79008" y="4873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779008" y="5303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C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17220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8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· yasserh / song-popularity-dataset   |   Industry figures: IFPI Global Music Report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Song Popularity Prediction</dc:title>
  <dc:subject>PptxGenJS Presentation</dc:subject>
  <dc:creator>Song Popularity Prediction Project</dc:creator>
  <cp:lastModifiedBy>Song Popularity Prediction Project</cp:lastModifiedBy>
  <cp:revision>1</cp:revision>
  <dcterms:created xsi:type="dcterms:W3CDTF">2026-09-20T14:13:04Z</dcterms:created>
  <dcterms:modified xsi:type="dcterms:W3CDTF">2026-09-20T14:13:04Z</dcterms:modified>
</cp:coreProperties>
</file>